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4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864608"/>
            <a:ext cx="2834640" cy="41148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F37022"/>
                </a:solidFill>
                <a:latin typeface="Segoe UI"/>
              </a:rPr>
              <a:t>ПРЕЗЕНТАЦИЯ ПРОЕКТА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7200" b="1">
                <a:solidFill>
                  <a:srgbClr val="FFFFFF"/>
                </a:solidFill>
                <a:latin typeface="Segoe UI"/>
              </a:rPr>
              <a:t>ProAX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F37022"/>
                </a:solidFill>
                <a:latin typeface="Segoe UI"/>
              </a:rPr>
              <a:t>Платформа, где актив превращается в бизнес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C9C2BE"/>
                </a:solidFill>
                <a:latin typeface="Segoe UI"/>
              </a:rPr>
              <a:t>Каталог участников · заявки и отклики · юридический статус · эскроу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B5ADA8"/>
                </a:solidFill>
                <a:latin typeface="Segoe UI"/>
              </a:rPr>
              <a:t>Демо: 127.0.0.1:8080   ·   Код: github.com/Bell-igor/proAX   ·   Страница: bell-igor.github.io/proAX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E868B"/>
                </a:solidFill>
                <a:latin typeface="Segoe UI"/>
              </a:rPr>
              <a:t>Оформление презентации — в фирменных цветах Axenix: #F37022 · #5F308C · #EAE8E4 · #080407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188720"/>
            <a:ext cx="1920240" cy="19202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0" y="1920240"/>
            <a:ext cx="1188720" cy="118872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>
                <a:solidFill>
                  <a:srgbClr val="080407"/>
                </a:solidFill>
                <a:latin typeface="Segoe UI"/>
              </a:rPr>
              <a:t>Есть земля и склад. Бизнеса нет.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C646A"/>
                </a:solidFill>
                <a:latin typeface="Segoe UI"/>
              </a:rPr>
              <a:t>У владельца актива нет профильного опыта и юридического статуса, но есть желание зарабатывать. Три очевидных пути — и у каждого цена ошибки.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3429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64008" cy="1874519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1518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080407"/>
                </a:solidFill>
                <a:latin typeface="Segoe UI"/>
              </a:rPr>
              <a:t>Продать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45536"/>
            <a:ext cx="297180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Быстрые деньги и никаких дивидендов: актив уходит, доход заканчивается.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2395728"/>
            <a:ext cx="3429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2395728"/>
            <a:ext cx="64008" cy="1874519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61518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080407"/>
                </a:solidFill>
                <a:latin typeface="Segoe UI"/>
              </a:rPr>
              <a:t>Организовать самому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145536"/>
            <a:ext cx="297180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Долги и потери: не хватает знаний в управлении, учёте и организации процессов.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2712" y="2395728"/>
            <a:ext cx="3429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2395728"/>
            <a:ext cx="64008" cy="1874519"/>
          </a:xfrm>
          <a:prstGeom prst="rect">
            <a:avLst/>
          </a:prstGeom>
          <a:solidFill>
            <a:srgbClr val="C5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61518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080407"/>
                </a:solidFill>
                <a:latin typeface="Segoe UI"/>
              </a:rPr>
              <a:t>Сдать в аренду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145536"/>
            <a:ext cx="297180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Риск нарваться на мошенников: слабая юридическая защита и непрозрачные условия.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53712"/>
            <a:ext cx="10634472" cy="1051560"/>
          </a:xfrm>
          <a:prstGeom prst="rect">
            <a:avLst/>
          </a:prstGeom>
          <a:solidFill>
            <a:srgbClr val="0804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Segoe UI"/>
              </a:rPr>
              <a:t>Барьер не в активе, а в трёх вещах: юридическое оформление, поиск добросовестного контрагента и безопасная сделка.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>
                <a:solidFill>
                  <a:srgbClr val="080407"/>
                </a:solidFill>
                <a:latin typeface="Segoe UI"/>
              </a:rPr>
              <a:t>Одна площадка ведёт от актива к договору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C646A"/>
                </a:solidFill>
                <a:latin typeface="Segoe UI"/>
              </a:rPr>
              <a:t>Платформа не просто показывает объявления, а сопровождает сделку: от статуса самозанятого до подписанного договора аренды.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952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459736"/>
            <a:ext cx="1720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F37022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715768"/>
            <a:ext cx="1720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80407"/>
                </a:solidFill>
                <a:latin typeface="Segoe UI"/>
              </a:rPr>
              <a:t>Актив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0748" y="2606039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F37022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7052" y="2331720"/>
            <a:ext cx="19952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3356" y="2459736"/>
            <a:ext cx="1720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F37022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3356" y="2715768"/>
            <a:ext cx="1720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80407"/>
                </a:solidFill>
                <a:latin typeface="Segoe UI"/>
              </a:rPr>
              <a:t>Юридический статус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561" y="2606039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F37022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6865" y="2331720"/>
            <a:ext cx="19952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3169" y="2459736"/>
            <a:ext cx="1720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F37022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3169" y="2715768"/>
            <a:ext cx="1720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80407"/>
                </a:solidFill>
                <a:latin typeface="Segoe UI"/>
              </a:rPr>
              <a:t>Карточка актива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0374" y="2606039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F37022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6678" y="2331720"/>
            <a:ext cx="19952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2459736"/>
            <a:ext cx="1720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F37022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2982" y="2715768"/>
            <a:ext cx="1720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80407"/>
                </a:solidFill>
                <a:latin typeface="Segoe UI"/>
              </a:rPr>
              <a:t>Запросы компаний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0187" y="2606039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F37022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6491" y="2331720"/>
            <a:ext cx="19952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2795" y="2459736"/>
            <a:ext cx="1720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F37022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2795" y="2715768"/>
            <a:ext cx="1720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80407"/>
                </a:solidFill>
                <a:latin typeface="Segoe UI"/>
              </a:rPr>
              <a:t>Договор и платёж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96849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3877056"/>
            <a:ext cx="101864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080407"/>
                </a:solidFill>
                <a:latin typeface="Segoe UI"/>
              </a:rPr>
              <a:t>Сопровождение сделки, а не доска объявлений: документы, явка, оплата и подтверждение.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47141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" y="4379976"/>
            <a:ext cx="101864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080407"/>
                </a:solidFill>
                <a:latin typeface="Segoe UI"/>
              </a:rPr>
              <a:t>Все участники цепочки в одном каталоге: поставщики, производство, логистика, склады, юристы.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97433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4882896"/>
            <a:ext cx="101864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080407"/>
                </a:solidFill>
                <a:latin typeface="Segoe UI"/>
              </a:rPr>
              <a:t>Деньги уходят исполнителю только после того, как заказчик передаст одноразовый код.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532120"/>
            <a:ext cx="2788920" cy="45720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C5621B"/>
                </a:solidFill>
                <a:latin typeface="Segoe UI"/>
              </a:rPr>
              <a:t>Этап 1 уже в работе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УЧАСТНИКИ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>
                <a:solidFill>
                  <a:srgbClr val="080407"/>
                </a:solidFill>
                <a:latin typeface="Segoe UI"/>
              </a:rPr>
              <a:t>Все уровни бизнеса на одной площадке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C646A"/>
                </a:solidFill>
                <a:latin typeface="Segoe UI"/>
              </a:rPr>
              <a:t>15 отраслей-ролей: от поставщика ресурсов до юридического сопровождения сделки.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429000" cy="73152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080407"/>
                </a:solidFill>
                <a:latin typeface="Segoe UI"/>
              </a:rPr>
              <a:t>Промышленность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99008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лёгкая и тяжёлая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4028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240280"/>
            <a:ext cx="3429000" cy="73152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080407"/>
                </a:solidFill>
                <a:latin typeface="Segoe UI"/>
              </a:rPr>
              <a:t>Ресурсы и сырьё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99008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металл, химия, полимеры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24028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240280"/>
            <a:ext cx="3429000" cy="73152"/>
          </a:xfrm>
          <a:prstGeom prst="rect">
            <a:avLst/>
          </a:prstGeom>
          <a:solidFill>
            <a:srgbClr val="C5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080407"/>
                </a:solidFill>
                <a:latin typeface="Segoe UI"/>
              </a:rPr>
              <a:t>Опт и розница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99008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дистрибуция и закупки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2336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23360"/>
            <a:ext cx="3429000" cy="73152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080407"/>
                </a:solidFill>
                <a:latin typeface="Segoe UI"/>
              </a:rPr>
              <a:t>Аутсорс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77316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сервисы и подрядчики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02336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023360"/>
            <a:ext cx="3429000" cy="73152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080407"/>
                </a:solidFill>
                <a:latin typeface="Segoe UI"/>
              </a:rPr>
              <a:t>Логистика и склады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77316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перевозки и хранение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02336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4023360"/>
            <a:ext cx="3429000" cy="73152"/>
          </a:xfrm>
          <a:prstGeom prst="rect">
            <a:avLst/>
          </a:prstGeom>
          <a:solidFill>
            <a:srgbClr val="C5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080407"/>
                </a:solidFill>
                <a:latin typeface="Segoe UI"/>
              </a:rPr>
              <a:t>Юристы, финансы,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77316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и другие сервисы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Справочник отраслей расширяется вместе с участниками — категории добавляет администратор площадки.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ЭТАП 1 · РЕАЛИЗОВАНО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Частное лицо → юридический статус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48255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1956816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080407"/>
                </a:solidFill>
                <a:latin typeface="Segoe UI"/>
              </a:rPr>
              <a:t>Регистрация без компании: имя, город, контакты.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61487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670048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080407"/>
                </a:solidFill>
                <a:latin typeface="Segoe UI"/>
              </a:rPr>
              <a:t>Каталог юруслуг: расстояние до фирмы, рейтинг, отзывы, платное продвижение.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74720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383280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080407"/>
                </a:solidFill>
                <a:latin typeface="Segoe UI"/>
              </a:rPr>
              <a:t>Заявка, документы и очная явка — на площадке.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87952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4096512"/>
            <a:ext cx="47914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080407"/>
                </a:solidFill>
                <a:latin typeface="Segoe UI"/>
              </a:rPr>
              <a:t>После подтверждения кода — автоматическая карточка компании.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57800"/>
            <a:ext cx="2286000" cy="420624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5621B"/>
                </a:solidFill>
                <a:latin typeface="Segoe UI"/>
              </a:rPr>
              <a:t>4 юрфирмы в демо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5257800"/>
            <a:ext cx="2331720" cy="420624"/>
          </a:xfrm>
          <a:prstGeom prst="roundRect">
            <a:avLst>
              <a:gd name="adj" fmla="val 6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5F308C"/>
                </a:solidFill>
                <a:latin typeface="Segoe UI"/>
              </a:rPr>
              <a:t>12 услуг: от ИП до АО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5349240" cy="3377565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257800" cy="3286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ДОВЕРИЕ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Деньги двигаются только по коду заказчика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C646A"/>
                </a:solidFill>
                <a:latin typeface="Segoe UI"/>
              </a:rPr>
              <a:t>Эскроу на площадке: исполнитель видит заказ, но не видит оплату до подтверждения услуги.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19" y="2148840"/>
            <a:ext cx="5669279" cy="319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5577840" cy="309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2194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F37022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6712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080407"/>
                </a:solidFill>
                <a:latin typeface="Segoe UI"/>
              </a:rPr>
              <a:t>Оплата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6712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заказчик платит на площадке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90779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F37022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803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080407"/>
                </a:solidFill>
                <a:latin typeface="Segoe UI"/>
              </a:rPr>
              <a:t>Удержание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803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деньги в эскроу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210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F37022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5935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080407"/>
                </a:solidFill>
                <a:latin typeface="Segoe UI"/>
              </a:rPr>
              <a:t>Услуга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59359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фирма отмечает выполнение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3342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F37022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306824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080407"/>
                </a:solidFill>
                <a:latin typeface="Segoe UI"/>
              </a:rPr>
              <a:t>Код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30682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6 цифр — только заказчику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047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F37022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020055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080407"/>
                </a:solidFill>
                <a:latin typeface="Segoe UI"/>
              </a:rPr>
              <a:t>Выплата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02005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платёж уходит фирме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8064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6C646A"/>
                </a:solidFill>
                <a:latin typeface="Segoe UI"/>
              </a:rPr>
              <a:t>Код действует 15 минут, 5 попыток. Отмена — возврат денег.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ПЛОЩАДКА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Каталог, заявки и переписка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C646A"/>
                </a:solidFill>
                <a:latin typeface="Segoe UI"/>
              </a:rPr>
              <a:t>Компании находят друг друга по отрасли и городу, публикуют потребности и обсуждают детали в переписке по заявке.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19" y="2103120"/>
            <a:ext cx="5303520" cy="33489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5212080" cy="3257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046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6C646A"/>
                </a:solidFill>
                <a:latin typeface="Segoe UI"/>
              </a:rPr>
              <a:t>Каталог: фильтры, рейтинг, бейджи PRO и Premium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03520" cy="33489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212080" cy="3257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5046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6C646A"/>
                </a:solidFill>
                <a:latin typeface="Segoe UI"/>
              </a:rPr>
              <a:t>Переписка: диалог открывается откликом на заявку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Кабинет, тарифы и документы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737360"/>
            <a:ext cx="594360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bi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85216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209397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87183" y="2002536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080407"/>
                </a:solidFill>
                <a:latin typeface="Segoe UI"/>
              </a:rPr>
              <a:t>Профиль компании, логотип, приватные документы.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752344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87183" y="2660904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080407"/>
                </a:solidFill>
                <a:latin typeface="Segoe UI"/>
              </a:rPr>
              <a:t>Тарифы PRO и Premium: приоритет в каталоге и бейдж.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410712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87183" y="3319272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080407"/>
                </a:solidFill>
                <a:latin typeface="Segoe UI"/>
              </a:rPr>
              <a:t>Заявки, отклики, избранное и переписка — в одном месте.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069080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3" y="3977640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080407"/>
                </a:solidFill>
                <a:latin typeface="Segoe UI"/>
              </a:rPr>
              <a:t>Админка: модерация компаний и статистика площадки.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6C646A"/>
                </a:solidFill>
                <a:latin typeface="Segoe UI"/>
              </a:rPr>
              <a:t>Кабинет компании: профиль, логотип, документы и тарифы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5029200"/>
            <a:ext cx="2011680" cy="402336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5621B"/>
                </a:solidFill>
                <a:latin typeface="Segoe UI"/>
              </a:rPr>
              <a:t>PRO · 4 900 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5029200"/>
            <a:ext cx="2331720" cy="402336"/>
          </a:xfrm>
          <a:prstGeom prst="roundRect">
            <a:avLst>
              <a:gd name="adj" fmla="val 6000"/>
            </a:avLst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PREMIUM · 14 900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КАК УСТРОЕНО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Spring Boot, JPA и SPA без сборщика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1206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Сервер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68833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596896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Java 21, Spring Boot 3.2.2, Spring MVC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163824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9304" y="3072384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Spring Data JPA, Hibernate 6.4, H2 / 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639312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35478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Сессии + PBKDF2-HMAC-SHA256, роли ADMIN / PERSON / COMPANY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4114800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4023360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Эскроу-леджер и одноразовые коды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590288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9304" y="4498848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27 тестов: JUnit 5, AssertJ, MockMvc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51206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Клиент и данные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88336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596896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SPA на ES-модулях: hash-роутер, свой fetch-слой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163824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072384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Собственная дизайн-система, без npm и сборки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639312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35478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Загрузка логотипов и документов в /uploads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114800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4023360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Расстояние между городами по координатам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590288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4498848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080407"/>
                </a:solidFill>
                <a:latin typeface="Segoe UI"/>
              </a:rPr>
              <a:t>Планировщик снятия истёкших тарифов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6C646A"/>
                </a:solidFill>
                <a:latin typeface="Segoe UI"/>
              </a:rPr>
              <a:t>Сборка и запуск: java -jar target/proax.jar → http://127.0.0.1:8080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Пять источников выручки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C646A"/>
                </a:solidFill>
                <a:latin typeface="Segoe UI"/>
              </a:rPr>
              <a:t>Платформа зарабатывает на продвижении, сделках и сервисах вокруг них.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54864" cy="64008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Продвижение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79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PRO и Premium в каталоге и поиске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07208"/>
            <a:ext cx="54864" cy="64008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25496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Комиссия эскроу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52927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процент от защищённого платежа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48456"/>
            <a:ext cx="54864" cy="640080"/>
          </a:xfrm>
          <a:prstGeom prst="rect">
            <a:avLst/>
          </a:prstGeom>
          <a:solidFill>
            <a:srgbClr val="C5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6674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Услуги платформы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9417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карточка, типовой договор, проверка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89704"/>
            <a:ext cx="54864" cy="64008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Подписки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53542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для юрфирм и арендаторов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330952"/>
            <a:ext cx="54864" cy="64008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Интеграции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37667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C646A"/>
                </a:solidFill>
                <a:latin typeface="Segoe UI"/>
              </a:rPr>
              <a:t>in.Plan, складская CRM, 1С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965960"/>
            <a:ext cx="3291840" cy="2331720"/>
          </a:xfrm>
          <a:prstGeom prst="rect">
            <a:avLst/>
          </a:prstGeom>
          <a:solidFill>
            <a:srgbClr val="0804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F37022"/>
                </a:solidFill>
                <a:latin typeface="Segoe UI"/>
              </a:rPr>
              <a:t>ПАРТНЁРСКИЕ ПРОДУКТЫ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6032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>
                <a:solidFill>
                  <a:srgbClr val="FFFFFF"/>
                </a:solidFill>
                <a:latin typeface="Segoe UI"/>
              </a:rPr>
              <a:t>Кредиты, страхование, кадры — агентское вознаграждение и дополнительная ценность для владельца актива.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526280"/>
            <a:ext cx="3291840" cy="914400"/>
          </a:xfrm>
          <a:prstGeom prst="rect">
            <a:avLst/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7091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1">
                <a:solidFill>
                  <a:srgbClr val="C5621B"/>
                </a:solidFill>
                <a:latin typeface="Segoe UI"/>
              </a:rPr>
              <a:t>Take rate растёт вместе с оборотом эскроу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44068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4480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ДОРОЖНАЯ 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080407"/>
                </a:solidFill>
                <a:latin typeface="Segoe UI"/>
              </a:rPr>
              <a:t>Три этапа развития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4015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401568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Этап 1 · готово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77977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268833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Частное лицо без компании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2841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23697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Каталог юруслуг с расстоянием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87705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78561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Заявка, документы, явка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42569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43342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Эскроу и код подтверждения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974336"/>
            <a:ext cx="91440" cy="9144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488289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Автоматическая карточка компании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1920240"/>
            <a:ext cx="34015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1920240"/>
            <a:ext cx="3401568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21945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Этап 2 · следующий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779776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268833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Карточки активов: земля и склад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5152" y="3328416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23697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Модерация объявлений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3877056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378561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Гео-подписки и уведомления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425696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342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Запросы арендаторов и выбор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974336"/>
            <a:ext cx="91440" cy="91440"/>
          </a:xfrm>
          <a:prstGeom prst="rect">
            <a:avLst/>
          </a:prstGeom>
          <a:solidFill>
            <a:srgbClr val="5F3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488289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Резерв карточки и договоры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55864" y="1920240"/>
            <a:ext cx="34015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5864" y="1920240"/>
            <a:ext cx="3401568" cy="91440"/>
          </a:xfrm>
          <a:prstGeom prst="rect">
            <a:avLst/>
          </a:prstGeom>
          <a:solidFill>
            <a:srgbClr val="948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945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80407"/>
                </a:solidFill>
                <a:latin typeface="Segoe UI"/>
              </a:rPr>
              <a:t>Этап 3 · масштаб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2779776"/>
            <a:ext cx="91440" cy="91440"/>
          </a:xfrm>
          <a:prstGeom prst="rect">
            <a:avLst/>
          </a:prstGeom>
          <a:solidFill>
            <a:srgbClr val="948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268833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Реальный эскроу через партнёра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4464" y="3328416"/>
            <a:ext cx="91440" cy="91440"/>
          </a:xfrm>
          <a:prstGeom prst="rect">
            <a:avLst/>
          </a:prstGeom>
          <a:solidFill>
            <a:srgbClr val="948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323697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Вход через Госуслуги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4464" y="3877056"/>
            <a:ext cx="91440" cy="91440"/>
          </a:xfrm>
          <a:prstGeom prst="rect">
            <a:avLst/>
          </a:prstGeom>
          <a:solidFill>
            <a:srgbClr val="948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378561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Аналитика для владельцев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4425696"/>
            <a:ext cx="91440" cy="91440"/>
          </a:xfrm>
          <a:prstGeom prst="rect">
            <a:avLst/>
          </a:prstGeom>
          <a:solidFill>
            <a:srgbClr val="948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2208" y="43342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Кредиты, инвестиции, кадры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4464" y="4974336"/>
            <a:ext cx="91440" cy="91440"/>
          </a:xfrm>
          <a:prstGeom prst="rect">
            <a:avLst/>
          </a:prstGeom>
          <a:solidFill>
            <a:srgbClr val="948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22208" y="488289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080407"/>
                </a:solidFill>
                <a:latin typeface="Segoe UI"/>
              </a:rPr>
              <a:t>Интеграции с 1С и CRM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6C646A"/>
                </a:solidFill>
                <a:latin typeface="Segoe UI"/>
              </a:rPr>
              <a:t>Этап 1 работает в демо; этапы 2–3 запускаются после подтверждения спроса на пилотном регионе.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382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ProAX · платформа «актив → бизнес» ·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6C646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4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937259"/>
            <a:ext cx="310896" cy="32004"/>
          </a:xfrm>
          <a:prstGeom prst="rect">
            <a:avLst/>
          </a:prstGeom>
          <a:solidFill>
            <a:srgbClr val="F37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84124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37022"/>
                </a:solidFill>
                <a:latin typeface="Segoe UI"/>
              </a:rP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Segoe UI"/>
              </a:rPr>
              <a:t>Что уже можно показать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37022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C9C2BE"/>
                </a:solidFill>
                <a:latin typeface="Segoe UI"/>
              </a:rPr>
              <a:t>компании в демо-каталоге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060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3702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46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C9C2BE"/>
                </a:solidFill>
                <a:latin typeface="Segoe UI"/>
              </a:rPr>
              <a:t>отраслей-ролей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26060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37022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3246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C9C2BE"/>
                </a:solidFill>
                <a:latin typeface="Segoe UI"/>
              </a:rPr>
              <a:t>юрфирмы и 12 юруслуг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9" y="26060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37022"/>
                </a:solidFill>
                <a:latin typeface="Segoe UI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9" y="3246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C9C2BE"/>
                </a:solidFill>
                <a:latin typeface="Segoe UI"/>
              </a:rPr>
              <a:t>автотестов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10607040" cy="18288"/>
          </a:xfrm>
          <a:prstGeom prst="rect">
            <a:avLst/>
          </a:prstGeom>
          <a:solidFill>
            <a:srgbClr val="3A3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Живое демо запускается одной командой: .\run.cmd → http://127.0.0.1:8080
Код открыт: github.com/Bell-igor/proAX · страница проекта: bell-igor.github.io/proAX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34340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950" b="0">
                <a:solidFill>
                  <a:srgbClr val="B5ADA8"/>
                </a:solidFill>
                <a:latin typeface="Segoe UI"/>
              </a:rPr>
              <a:t>Ограничения демо: эскроу имитируется, Госуслуги не подключены, файлы — на диске сервера.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350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E868B"/>
                </a:solidFill>
                <a:latin typeface="Segoe UI"/>
              </a:rPr>
              <a:t>ProAX · 2026 · оформление в фирменных цветах Axenix (#F37022 · #5F308C · #EAE8E4 · #080407)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